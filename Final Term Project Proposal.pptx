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84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82" r:id="rId13"/>
    <p:sldId id="266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5" r:id="rId25"/>
    <p:sldId id="286" r:id="rId26"/>
    <p:sldId id="268" r:id="rId27"/>
    <p:sldId id="269" r:id="rId28"/>
    <p:sldId id="270" r:id="rId29"/>
    <p:sldId id="283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5" autoAdjust="0"/>
    <p:restoredTop sz="94660"/>
  </p:normalViewPr>
  <p:slideViewPr>
    <p:cSldViewPr snapToGrid="0">
      <p:cViewPr>
        <p:scale>
          <a:sx n="100" d="100"/>
          <a:sy n="100" d="100"/>
        </p:scale>
        <p:origin x="9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70473-6952-5C42-BAFF-E4BAAE7501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35A011-A2A0-0929-C60E-AF672163CF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C613A4-FEF9-51AF-C716-1FB7F484A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BD6D6-C7BD-4251-9DF0-D6BDE3D530E5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5589FD-B73F-C7ED-C575-61B505636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9CD126-7CC4-2F2A-41F8-C6A687891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B3460-71DA-4EBB-B992-4496B1745C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834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F6AE4-F55A-4802-7CCA-66E925BD6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6BBF0C-C22C-DA69-F523-664382CBE1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DC5B48-32D1-C8B1-04E9-DF46D3356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BD6D6-C7BD-4251-9DF0-D6BDE3D530E5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ECAD61-238C-9DF6-AE89-CA302581B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0EFB12-71EC-8598-71E0-FC835D728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B3460-71DA-4EBB-B992-4496B1745C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225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E2BB7-FD34-52B0-A9C8-9BD17E597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9A796B-7330-6995-DC69-02E5E8D746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911673-071E-D56B-0E39-623F991F6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BD6D6-C7BD-4251-9DF0-D6BDE3D530E5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A6DD57-6D09-B690-AEA9-1B7B4BAFB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0F24A7-A03E-970F-EB99-38D4BFED7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B3460-71DA-4EBB-B992-4496B1745C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351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1E715-41DF-E1C9-91DD-AE4C6FD45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C7437C-6C83-8C98-FE03-AF3BF155B2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95A467-6195-88FB-181E-5FAF3BFA6C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DB7AC6-B3ED-39BE-9DAB-3471003C4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BD6D6-C7BD-4251-9DF0-D6BDE3D530E5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F64154-DDD1-E033-6A26-A2E2C076C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04FF64-66D9-6D25-A3F0-B86D1C59F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B3460-71DA-4EBB-B992-4496B1745C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844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5B3DD-FED9-C96B-FB15-BD953FBC2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535144-A480-17E5-45C8-F24CAA443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DCCA95-D673-E8C2-3562-C3BBE145F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5ABBCF-35FB-2020-BE6B-8ADB6662C4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F3ACB4-FFFE-777F-BE7D-70DD80E59A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619412-38A1-30DE-F2FB-8F4DA6CDF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BD6D6-C7BD-4251-9DF0-D6BDE3D530E5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A34A11-B1E3-8491-C019-1F0AFDA9C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3A27DD-22BC-9E4B-28AE-6F9E6045F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B3460-71DA-4EBB-B992-4496B1745C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656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9ACD9-9877-7F52-193C-873AA5A33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E16D6A-100C-B05F-6AB6-D256A4EE2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BD6D6-C7BD-4251-9DF0-D6BDE3D530E5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8B2779-7966-7D5A-CDE8-F84BB5145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7FC85B-9327-7A4A-8737-ED8A8203B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B3460-71DA-4EBB-B992-4496B1745C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477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899024-BC78-0468-23AA-BC4A1EA53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BD6D6-C7BD-4251-9DF0-D6BDE3D530E5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0066EA-34FA-793F-F8D3-3FFDEAF23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E9386C-530B-D90C-8F16-C61C81F97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B3460-71DA-4EBB-B992-4496B1745C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055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80595-4659-E558-FD21-4A2AD661E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3F2057-3B12-0633-49AB-C9397318F3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DD9CFE-C50B-C883-DFA7-0AC181DA64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445111-0367-DB65-2B5C-346BE7A32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BD6D6-C7BD-4251-9DF0-D6BDE3D530E5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028D19-C4F8-D20E-3609-75CF83449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5266F2-8A0C-770B-5087-9E53249FB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B3460-71DA-4EBB-B992-4496B1745C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298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A9970-720A-431B-B7A2-4D9E7575F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6F6CAD-3798-8DDF-225C-442102044F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35D30F-F132-652D-C23B-2CD58CE6B4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9A7CA0-E542-B30B-BC22-F898F80BC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BD6D6-C7BD-4251-9DF0-D6BDE3D530E5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728A38-93E7-0FBE-D174-3E36FFF69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E30A31-5ADA-7C37-75E2-7B33AF2AE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B3460-71DA-4EBB-B992-4496B1745C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470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78EA3-D43B-12CC-5C79-74CCDF448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5396C4-1664-6AEC-9C5B-0C227D7675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5D185A-E116-290A-4AEB-F98572972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BD6D6-C7BD-4251-9DF0-D6BDE3D530E5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13EFEF-BF08-31D4-BE26-7140274E3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649195-AB1E-E833-E2FF-DF9C8960F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B3460-71DA-4EBB-B992-4496B1745C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662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D4E011-788E-E2BE-CA05-DDD3223615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B2735E-C318-3A9F-25F4-0F2B70B2AE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E5380D-4230-F56A-47C9-C75758335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BD6D6-C7BD-4251-9DF0-D6BDE3D530E5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FD857E-3FA8-9B77-0E69-4F51833FC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A5DBA1-CDB0-905C-EA79-AA7E0ADF4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B3460-71DA-4EBB-B992-4496B1745C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064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63D611-C25F-8C74-DB1A-26DA3C6A1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FE6398-848A-BF25-6386-112F0F6E22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A4BFE6-D955-DD8B-2ECF-61DCDBB6A5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ABD6D6-C7BD-4251-9DF0-D6BDE3D530E5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30C3F8-890F-A724-12AD-419D10E14F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9DA514-15F6-50CD-10E9-663DB59904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1B3460-71DA-4EBB-B992-4496B1745C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860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fif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E8E3F-A7D8-914E-07D6-2CA657D266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Final Term Project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961915-8CB6-05F2-7D0F-D2D51F38C9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Omar Shah</a:t>
            </a:r>
          </a:p>
        </p:txBody>
      </p:sp>
    </p:spTree>
    <p:extLst>
      <p:ext uri="{BB962C8B-B14F-4D97-AF65-F5344CB8AC3E}">
        <p14:creationId xmlns:p14="http://schemas.microsoft.com/office/powerpoint/2010/main" val="34933577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32C42-71A2-8B34-F27F-AAD7DD67F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FB2F37-2DD4-4416-6942-9F11B1C09BAA}"/>
              </a:ext>
            </a:extLst>
          </p:cNvPr>
          <p:cNvSpPr txBox="1"/>
          <p:nvPr/>
        </p:nvSpPr>
        <p:spPr>
          <a:xfrm>
            <a:off x="838200" y="2044931"/>
            <a:ext cx="10461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Transactions approved by the US Import-Export Office from 2007 to the 1</a:t>
            </a:r>
            <a:r>
              <a:rPr lang="en-US" baseline="30000" dirty="0"/>
              <a:t>st</a:t>
            </a:r>
            <a:r>
              <a:rPr lang="en-US" dirty="0"/>
              <a:t> quarter of the 2025 Fiscal Year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13817A-70A4-B2FF-15C7-6306B7305D5E}"/>
              </a:ext>
            </a:extLst>
          </p:cNvPr>
          <p:cNvSpPr txBox="1"/>
          <p:nvPr/>
        </p:nvSpPr>
        <p:spPr>
          <a:xfrm>
            <a:off x="1092200" y="3162300"/>
            <a:ext cx="2465162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Categorical features: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Identifier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Deal Number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Brokered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Country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Program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Policy Type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Decision Authority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Product Description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Primary Applicant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Primary Lender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Applicant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C04110-B40A-A0C5-2CF1-E247170466D8}"/>
              </a:ext>
            </a:extLst>
          </p:cNvPr>
          <p:cNvSpPr txBox="1"/>
          <p:nvPr/>
        </p:nvSpPr>
        <p:spPr>
          <a:xfrm>
            <a:off x="5657850" y="3095625"/>
            <a:ext cx="35814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Numerical Features: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Loan Amount Approved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Loan Amount Disbursed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Small Business Authorized Amount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3CA979-F970-E38B-0A4F-9A81AC377DDD}"/>
              </a:ext>
            </a:extLst>
          </p:cNvPr>
          <p:cNvSpPr txBox="1"/>
          <p:nvPr/>
        </p:nvSpPr>
        <p:spPr>
          <a:xfrm>
            <a:off x="8856663" y="3333750"/>
            <a:ext cx="33353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One Engineered Feature:</a:t>
            </a:r>
          </a:p>
          <a:p>
            <a:r>
              <a:rPr lang="en-US" dirty="0"/>
              <a:t>Encoded Primary Exporter State</a:t>
            </a:r>
          </a:p>
        </p:txBody>
      </p:sp>
    </p:spTree>
    <p:extLst>
      <p:ext uri="{BB962C8B-B14F-4D97-AF65-F5344CB8AC3E}">
        <p14:creationId xmlns:p14="http://schemas.microsoft.com/office/powerpoint/2010/main" val="1716659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9FAC6-24AC-83CC-0230-69539142E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E639A-CFD4-1C2E-1FD0-EE8D5EA3E9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Cleaning using </a:t>
            </a:r>
            <a:r>
              <a:rPr lang="en-US" dirty="0" err="1"/>
              <a:t>Dropna</a:t>
            </a:r>
            <a:r>
              <a:rPr lang="en-US" dirty="0"/>
              <a:t>() and </a:t>
            </a:r>
            <a:r>
              <a:rPr lang="en-US" dirty="0" err="1"/>
              <a:t>Fillna</a:t>
            </a:r>
            <a:r>
              <a:rPr lang="en-US" dirty="0"/>
              <a:t> function</a:t>
            </a:r>
          </a:p>
          <a:p>
            <a:r>
              <a:rPr lang="en-US" dirty="0"/>
              <a:t>For some datasets, outliers were detected by calculating quantiles for some features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Outlier Removal</a:t>
            </a:r>
          </a:p>
          <a:p>
            <a:r>
              <a:rPr lang="en-US" dirty="0"/>
              <a:t>Data in the first and third quantiles were eliminated in this case</a:t>
            </a:r>
          </a:p>
        </p:txBody>
      </p:sp>
    </p:spTree>
    <p:extLst>
      <p:ext uri="{BB962C8B-B14F-4D97-AF65-F5344CB8AC3E}">
        <p14:creationId xmlns:p14="http://schemas.microsoft.com/office/powerpoint/2010/main" val="3556015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D8149-C549-6396-EC84-EAAC0373B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Pie Plot</a:t>
            </a:r>
          </a:p>
        </p:txBody>
      </p:sp>
      <p:pic>
        <p:nvPicPr>
          <p:cNvPr id="5" name="Content Placeholder 4" descr="A group of pie charts&#10;&#10;AI-generated content may be incorrect.">
            <a:extLst>
              <a:ext uri="{FF2B5EF4-FFF2-40B4-BE49-F238E27FC236}">
                <a16:creationId xmlns:a16="http://schemas.microsoft.com/office/drawing/2014/main" id="{8B41EBFD-75DD-4C40-CAF6-BAB9518A3B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184" y="1690688"/>
            <a:ext cx="6220968" cy="4665727"/>
          </a:xfrm>
        </p:spPr>
      </p:pic>
    </p:spTree>
    <p:extLst>
      <p:ext uri="{BB962C8B-B14F-4D97-AF65-F5344CB8AC3E}">
        <p14:creationId xmlns:p14="http://schemas.microsoft.com/office/powerpoint/2010/main" val="22369949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055932-BAC1-5E8E-216A-365EDA2A1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Line Plot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EB9700-D9EF-9B43-F528-2201ECFEAF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93661" y="2599509"/>
            <a:ext cx="4530898" cy="363945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/>
            <a:endParaRPr lang="en-US" sz="2000"/>
          </a:p>
          <a:p>
            <a:endParaRPr lang="en-US" sz="2000"/>
          </a:p>
        </p:txBody>
      </p:sp>
      <p:pic>
        <p:nvPicPr>
          <p:cNvPr id="6" name="Content Placeholder 5" descr="A line graph showing total loan amounts for the state of Maryland from 2007 to 2025">
            <a:extLst>
              <a:ext uri="{FF2B5EF4-FFF2-40B4-BE49-F238E27FC236}">
                <a16:creationId xmlns:a16="http://schemas.microsoft.com/office/drawing/2014/main" id="{79B909FE-B82B-201E-CED4-122FDF89B90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2934" y="2599509"/>
            <a:ext cx="6058875" cy="3029437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588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C9747-5B8C-9FAB-CC31-CE2ADBF7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Scatter plot</a:t>
            </a:r>
          </a:p>
        </p:txBody>
      </p:sp>
      <p:pic>
        <p:nvPicPr>
          <p:cNvPr id="5" name="Content Placeholder 4" descr="A graph with blue dots and white text&#10;&#10;AI-generated content may be incorrect.">
            <a:extLst>
              <a:ext uri="{FF2B5EF4-FFF2-40B4-BE49-F238E27FC236}">
                <a16:creationId xmlns:a16="http://schemas.microsoft.com/office/drawing/2014/main" id="{3B004B77-59CD-F9D1-9027-2DB302DD5C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331" y="1825625"/>
            <a:ext cx="4351338" cy="4351338"/>
          </a:xfrm>
        </p:spPr>
      </p:pic>
    </p:spTree>
    <p:extLst>
      <p:ext uri="{BB962C8B-B14F-4D97-AF65-F5344CB8AC3E}">
        <p14:creationId xmlns:p14="http://schemas.microsoft.com/office/powerpoint/2010/main" val="31157102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914FC-7940-F97B-59C4-B8A9E0117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Bar plot</a:t>
            </a:r>
          </a:p>
        </p:txBody>
      </p:sp>
      <p:pic>
        <p:nvPicPr>
          <p:cNvPr id="5" name="Content Placeholder 4" descr="A graph of a bar&#10;&#10;AI-generated content may be incorrect.">
            <a:extLst>
              <a:ext uri="{FF2B5EF4-FFF2-40B4-BE49-F238E27FC236}">
                <a16:creationId xmlns:a16="http://schemas.microsoft.com/office/drawing/2014/main" id="{EAC19307-A253-4CAF-B8FE-24A0259E89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9885" y="1825625"/>
            <a:ext cx="7252230" cy="4351338"/>
          </a:xfrm>
        </p:spPr>
      </p:pic>
    </p:spTree>
    <p:extLst>
      <p:ext uri="{BB962C8B-B14F-4D97-AF65-F5344CB8AC3E}">
        <p14:creationId xmlns:p14="http://schemas.microsoft.com/office/powerpoint/2010/main" val="20933828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F9587-44F6-2129-748E-7A3C6964D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Surface plot</a:t>
            </a:r>
          </a:p>
        </p:txBody>
      </p:sp>
      <p:pic>
        <p:nvPicPr>
          <p:cNvPr id="5" name="Content Placeholder 4" descr="A surface plot showing ratios of approved vs. disbursed loan amounts">
            <a:extLst>
              <a:ext uri="{FF2B5EF4-FFF2-40B4-BE49-F238E27FC236}">
                <a16:creationId xmlns:a16="http://schemas.microsoft.com/office/drawing/2014/main" id="{753DBBFA-E172-84BE-89A9-F2C0BFC622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9885" y="1825625"/>
            <a:ext cx="7252230" cy="4351338"/>
          </a:xfrm>
        </p:spPr>
      </p:pic>
    </p:spTree>
    <p:extLst>
      <p:ext uri="{BB962C8B-B14F-4D97-AF65-F5344CB8AC3E}">
        <p14:creationId xmlns:p14="http://schemas.microsoft.com/office/powerpoint/2010/main" val="35312140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32733-9829-4620-770A-036DB416B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Dist</a:t>
            </a:r>
            <a:r>
              <a:rPr lang="en-US" dirty="0"/>
              <a:t> plot</a:t>
            </a:r>
          </a:p>
        </p:txBody>
      </p:sp>
      <p:pic>
        <p:nvPicPr>
          <p:cNvPr id="5" name="Content Placeholder 4" descr="A graph of a number of people&#10;&#10;AI-generated content may be incorrect.">
            <a:extLst>
              <a:ext uri="{FF2B5EF4-FFF2-40B4-BE49-F238E27FC236}">
                <a16:creationId xmlns:a16="http://schemas.microsoft.com/office/drawing/2014/main" id="{41C6C1C2-3EC3-DAFB-108F-E31A21A6D7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4793" y="1825625"/>
            <a:ext cx="6222413" cy="4351338"/>
          </a:xfrm>
        </p:spPr>
      </p:pic>
    </p:spTree>
    <p:extLst>
      <p:ext uri="{BB962C8B-B14F-4D97-AF65-F5344CB8AC3E}">
        <p14:creationId xmlns:p14="http://schemas.microsoft.com/office/powerpoint/2010/main" val="32407744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8D27B-89E6-1135-DB51-DB2AE2E5D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Heatmap</a:t>
            </a:r>
          </a:p>
        </p:txBody>
      </p:sp>
      <p:pic>
        <p:nvPicPr>
          <p:cNvPr id="5" name="Content Placeholder 4" descr="A screenshot of a heatmap">
            <a:extLst>
              <a:ext uri="{FF2B5EF4-FFF2-40B4-BE49-F238E27FC236}">
                <a16:creationId xmlns:a16="http://schemas.microsoft.com/office/drawing/2014/main" id="{D9C5A7F4-AC1C-5FB3-61F9-930D238C18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1825625"/>
            <a:ext cx="6681986" cy="4351338"/>
          </a:xfrm>
        </p:spPr>
      </p:pic>
    </p:spTree>
    <p:extLst>
      <p:ext uri="{BB962C8B-B14F-4D97-AF65-F5344CB8AC3E}">
        <p14:creationId xmlns:p14="http://schemas.microsoft.com/office/powerpoint/2010/main" val="15637361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17AB3D3-3C9C-4DED-809A-78734805B8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5F0A71-E7F3-78B3-029E-4298EB6B7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 dirty="0"/>
              <a:t>Multivariate Boxen plot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3A918C6-2605-0021-DA78-869696A26B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2578189" cy="3639450"/>
          </a:xfrm>
        </p:spPr>
        <p:txBody>
          <a:bodyPr anchor="ctr">
            <a:normAutofit/>
          </a:bodyPr>
          <a:lstStyle/>
          <a:p>
            <a:endParaRPr lang="en-US" sz="2000"/>
          </a:p>
        </p:txBody>
      </p:sp>
      <p:pic>
        <p:nvPicPr>
          <p:cNvPr id="9" name="Content Placeholder 8" descr="A graph of a number of data&#10;&#10;AI-generated content may be incorrect.">
            <a:extLst>
              <a:ext uri="{FF2B5EF4-FFF2-40B4-BE49-F238E27FC236}">
                <a16:creationId xmlns:a16="http://schemas.microsoft.com/office/drawing/2014/main" id="{78847574-BAF3-90B3-A95F-E29736817F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" b="9855"/>
          <a:stretch>
            <a:fillRect/>
          </a:stretch>
        </p:blipFill>
        <p:spPr>
          <a:xfrm>
            <a:off x="3669875" y="2303280"/>
            <a:ext cx="5150277" cy="36394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1720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BCDBB-E4C6-052C-2E4F-9523ED5AC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Box Plot</a:t>
            </a:r>
          </a:p>
        </p:txBody>
      </p:sp>
      <p:pic>
        <p:nvPicPr>
          <p:cNvPr id="5" name="Content Placeholder 4" descr="A graph with blue and black text&#10;&#10;AI-generated content may be incorrect.">
            <a:extLst>
              <a:ext uri="{FF2B5EF4-FFF2-40B4-BE49-F238E27FC236}">
                <a16:creationId xmlns:a16="http://schemas.microsoft.com/office/drawing/2014/main" id="{1D2FD0DC-0BC4-56F2-0BC6-EF54187EB6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6414" y="1825625"/>
            <a:ext cx="5439172" cy="4351338"/>
          </a:xfrm>
        </p:spPr>
      </p:pic>
    </p:spTree>
    <p:extLst>
      <p:ext uri="{BB962C8B-B14F-4D97-AF65-F5344CB8AC3E}">
        <p14:creationId xmlns:p14="http://schemas.microsoft.com/office/powerpoint/2010/main" val="4528587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813DC-A043-3125-62C4-EC2226525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Violin</a:t>
            </a:r>
          </a:p>
        </p:txBody>
      </p:sp>
      <p:pic>
        <p:nvPicPr>
          <p:cNvPr id="5" name="Content Placeholder 4" descr="A graph of a person owned authorized amount violin plot&#10;">
            <a:extLst>
              <a:ext uri="{FF2B5EF4-FFF2-40B4-BE49-F238E27FC236}">
                <a16:creationId xmlns:a16="http://schemas.microsoft.com/office/drawing/2014/main" id="{EBA6FDA4-5B7C-76D9-2F45-6CCE2C34A1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5108" y="1825625"/>
            <a:ext cx="5801784" cy="4351338"/>
          </a:xfrm>
        </p:spPr>
      </p:pic>
    </p:spTree>
    <p:extLst>
      <p:ext uri="{BB962C8B-B14F-4D97-AF65-F5344CB8AC3E}">
        <p14:creationId xmlns:p14="http://schemas.microsoft.com/office/powerpoint/2010/main" val="4419104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9AF75-0E02-DBFE-1C1E-3183EDFB3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 plot</a:t>
            </a:r>
          </a:p>
        </p:txBody>
      </p:sp>
      <p:pic>
        <p:nvPicPr>
          <p:cNvPr id="5" name="Content Placeholder 4" descr="A graph of a number of states&#10;&#10;AI-generated content may be incorrect.">
            <a:extLst>
              <a:ext uri="{FF2B5EF4-FFF2-40B4-BE49-F238E27FC236}">
                <a16:creationId xmlns:a16="http://schemas.microsoft.com/office/drawing/2014/main" id="{FC474F6B-83E6-791E-4BFA-6AC8E73BC7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0063" y="1825625"/>
            <a:ext cx="6091873" cy="4351338"/>
          </a:xfrm>
        </p:spPr>
      </p:pic>
    </p:spTree>
    <p:extLst>
      <p:ext uri="{BB962C8B-B14F-4D97-AF65-F5344CB8AC3E}">
        <p14:creationId xmlns:p14="http://schemas.microsoft.com/office/powerpoint/2010/main" val="228773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156CF-AA4F-47AC-4AAC-055B62223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 Map</a:t>
            </a:r>
          </a:p>
        </p:txBody>
      </p:sp>
      <p:pic>
        <p:nvPicPr>
          <p:cNvPr id="5" name="Content Placeholder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CF68AF2D-5EF9-881C-A220-ACE6E34CEC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331" y="1825625"/>
            <a:ext cx="4351338" cy="4351338"/>
          </a:xfrm>
        </p:spPr>
      </p:pic>
    </p:spTree>
    <p:extLst>
      <p:ext uri="{BB962C8B-B14F-4D97-AF65-F5344CB8AC3E}">
        <p14:creationId xmlns:p14="http://schemas.microsoft.com/office/powerpoint/2010/main" val="16589027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58EBB-8FA8-CB5E-A4F8-E3D0753D7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Swarm Plot</a:t>
            </a:r>
          </a:p>
        </p:txBody>
      </p:sp>
      <p:pic>
        <p:nvPicPr>
          <p:cNvPr id="5" name="Content Placeholder 4" descr="A graph of blue dots&#10;&#10;AI-generated content may be incorrect.">
            <a:extLst>
              <a:ext uri="{FF2B5EF4-FFF2-40B4-BE49-F238E27FC236}">
                <a16:creationId xmlns:a16="http://schemas.microsoft.com/office/drawing/2014/main" id="{4D5CC9BD-2C80-80CB-5F1E-760FEFE770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5108" y="1825625"/>
            <a:ext cx="5801784" cy="4351338"/>
          </a:xfrm>
        </p:spPr>
      </p:pic>
    </p:spTree>
    <p:extLst>
      <p:ext uri="{BB962C8B-B14F-4D97-AF65-F5344CB8AC3E}">
        <p14:creationId xmlns:p14="http://schemas.microsoft.com/office/powerpoint/2010/main" val="22645725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0CCCA-14E2-55D3-EA9B-605196EC7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Area Plot</a:t>
            </a:r>
          </a:p>
        </p:txBody>
      </p:sp>
      <p:pic>
        <p:nvPicPr>
          <p:cNvPr id="5" name="Content Placeholder 4" descr="A graph with different colored lines&#10;&#10;AI-generated content may be incorrect.">
            <a:extLst>
              <a:ext uri="{FF2B5EF4-FFF2-40B4-BE49-F238E27FC236}">
                <a16:creationId xmlns:a16="http://schemas.microsoft.com/office/drawing/2014/main" id="{AD6A4269-E2E1-B6B2-F153-0C3D4D7149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635" y="1825625"/>
            <a:ext cx="9896729" cy="4351338"/>
          </a:xfrm>
        </p:spPr>
      </p:pic>
    </p:spTree>
    <p:extLst>
      <p:ext uri="{BB962C8B-B14F-4D97-AF65-F5344CB8AC3E}">
        <p14:creationId xmlns:p14="http://schemas.microsoft.com/office/powerpoint/2010/main" val="28863996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2959F-7597-52ED-A8FC-025AB81CE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Q-Q Plot</a:t>
            </a:r>
          </a:p>
        </p:txBody>
      </p:sp>
      <p:pic>
        <p:nvPicPr>
          <p:cNvPr id="5" name="Content Placeholder 4" descr="A graph with blue dots&#10;&#10;AI-generated content may be incorrect.">
            <a:extLst>
              <a:ext uri="{FF2B5EF4-FFF2-40B4-BE49-F238E27FC236}">
                <a16:creationId xmlns:a16="http://schemas.microsoft.com/office/drawing/2014/main" id="{2F30B297-0823-C486-5811-260BCF1EAA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5375" y="2810669"/>
            <a:ext cx="2381250" cy="2381250"/>
          </a:xfrm>
        </p:spPr>
      </p:pic>
    </p:spTree>
    <p:extLst>
      <p:ext uri="{BB962C8B-B14F-4D97-AF65-F5344CB8AC3E}">
        <p14:creationId xmlns:p14="http://schemas.microsoft.com/office/powerpoint/2010/main" val="9891294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54AC9-7A73-61CB-4A3E-DFD3B89C4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Pair plot</a:t>
            </a:r>
          </a:p>
        </p:txBody>
      </p:sp>
      <p:pic>
        <p:nvPicPr>
          <p:cNvPr id="5" name="Content Placeholder 4" descr="A group of graphs showing different sizes of dots&#10;&#10;AI-generated content may be incorrect.">
            <a:extLst>
              <a:ext uri="{FF2B5EF4-FFF2-40B4-BE49-F238E27FC236}">
                <a16:creationId xmlns:a16="http://schemas.microsoft.com/office/drawing/2014/main" id="{45DCDF35-A847-7825-7141-4340658D4D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2562" y="1825625"/>
            <a:ext cx="5286875" cy="4351338"/>
          </a:xfrm>
        </p:spPr>
      </p:pic>
    </p:spTree>
    <p:extLst>
      <p:ext uri="{BB962C8B-B14F-4D97-AF65-F5344CB8AC3E}">
        <p14:creationId xmlns:p14="http://schemas.microsoft.com/office/powerpoint/2010/main" val="33907302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56ABC-2A61-ED08-8B46-828BE71B4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Plot</a:t>
            </a:r>
          </a:p>
        </p:txBody>
      </p:sp>
      <p:pic>
        <p:nvPicPr>
          <p:cNvPr id="5" name="Content Placeholder 4" descr="A graph of a person owned authorized amount&#10;&#10;AI-generated content may be incorrect.">
            <a:extLst>
              <a:ext uri="{FF2B5EF4-FFF2-40B4-BE49-F238E27FC236}">
                <a16:creationId xmlns:a16="http://schemas.microsoft.com/office/drawing/2014/main" id="{FCE1DF09-532C-4739-C733-3731CA08C1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331" y="1825625"/>
            <a:ext cx="4351338" cy="4351338"/>
          </a:xfrm>
        </p:spPr>
      </p:pic>
    </p:spTree>
    <p:extLst>
      <p:ext uri="{BB962C8B-B14F-4D97-AF65-F5344CB8AC3E}">
        <p14:creationId xmlns:p14="http://schemas.microsoft.com/office/powerpoint/2010/main" val="16226129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FE90B-9B01-6424-B89F-BA1D02072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KDE and Rug Plots</a:t>
            </a:r>
          </a:p>
        </p:txBody>
      </p:sp>
      <p:pic>
        <p:nvPicPr>
          <p:cNvPr id="5" name="Content Placeholder 4" descr="A graph of a business loan&#10;&#10;AI-generated content may be incorrect.">
            <a:extLst>
              <a:ext uri="{FF2B5EF4-FFF2-40B4-BE49-F238E27FC236}">
                <a16:creationId xmlns:a16="http://schemas.microsoft.com/office/drawing/2014/main" id="{07221DC2-3FD2-FDBB-607B-FC1DD9D416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5108" y="1825625"/>
            <a:ext cx="5801784" cy="4351338"/>
          </a:xfrm>
        </p:spPr>
      </p:pic>
    </p:spTree>
    <p:extLst>
      <p:ext uri="{BB962C8B-B14F-4D97-AF65-F5344CB8AC3E}">
        <p14:creationId xmlns:p14="http://schemas.microsoft.com/office/powerpoint/2010/main" val="28833073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4B95A-D837-0831-2FD4-F4E291A27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Hexbin</a:t>
            </a:r>
            <a:endParaRPr lang="en-US" dirty="0"/>
          </a:p>
        </p:txBody>
      </p:sp>
      <p:pic>
        <p:nvPicPr>
          <p:cNvPr id="5" name="Content Placeholder 4" descr="A blue square with red dots&#10;&#10;AI-generated content may be incorrect.">
            <a:extLst>
              <a:ext uri="{FF2B5EF4-FFF2-40B4-BE49-F238E27FC236}">
                <a16:creationId xmlns:a16="http://schemas.microsoft.com/office/drawing/2014/main" id="{A21E169F-C36F-95D6-B9D0-F9E5F21165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5108" y="1825625"/>
            <a:ext cx="5801784" cy="4351338"/>
          </a:xfrm>
        </p:spPr>
      </p:pic>
    </p:spTree>
    <p:extLst>
      <p:ext uri="{BB962C8B-B14F-4D97-AF65-F5344CB8AC3E}">
        <p14:creationId xmlns:p14="http://schemas.microsoft.com/office/powerpoint/2010/main" val="31299935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4736D-FC63-6F2D-D2A8-E61C83694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Dist</a:t>
            </a:r>
            <a:r>
              <a:rPr lang="en-US" dirty="0"/>
              <a:t> Plot</a:t>
            </a:r>
          </a:p>
        </p:txBody>
      </p:sp>
      <p:pic>
        <p:nvPicPr>
          <p:cNvPr id="5" name="Content Placeholder 4" descr="A graph of a number of people&#10;&#10;AI-generated content may be incorrect.">
            <a:extLst>
              <a:ext uri="{FF2B5EF4-FFF2-40B4-BE49-F238E27FC236}">
                <a16:creationId xmlns:a16="http://schemas.microsoft.com/office/drawing/2014/main" id="{729B3328-A41D-7C2B-6691-39C1E56C1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4793" y="1825625"/>
            <a:ext cx="6222413" cy="4351338"/>
          </a:xfrm>
        </p:spPr>
      </p:pic>
    </p:spTree>
    <p:extLst>
      <p:ext uri="{BB962C8B-B14F-4D97-AF65-F5344CB8AC3E}">
        <p14:creationId xmlns:p14="http://schemas.microsoft.com/office/powerpoint/2010/main" val="10746388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98276-92DA-0845-A182-293301447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Principal Component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77C6BD-E1B7-32C9-ECC1-0C35F237F9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Condition number for original dataset: 3.209868653781116</a:t>
            </a:r>
          </a:p>
          <a:p>
            <a:pPr marL="0" indent="0">
              <a:buNone/>
            </a:pPr>
            <a:r>
              <a:rPr lang="en-US" dirty="0"/>
              <a:t>Condition number for reduced feature dataset: 3.209868653781077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 descr="A graph with a line&#10;&#10;AI-generated content may be incorrect.">
            <a:extLst>
              <a:ext uri="{FF2B5EF4-FFF2-40B4-BE49-F238E27FC236}">
                <a16:creationId xmlns:a16="http://schemas.microsoft.com/office/drawing/2014/main" id="{4918A3FB-5ED5-2333-9389-338C7DC039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4675" y="3440112"/>
            <a:ext cx="3829050" cy="2871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5658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0A882-11C1-ECC4-EEA8-6802E3D3D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Normality 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0D9722-D075-E8DD-01C2-0D2A8ACC77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Method: K-S test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Result: Numerical Data ('Approved/Declined Amount', 'Disbursed/Shipped Amount', 'Small Business Authorized Amount', 'Woman Owned Authorized Amount', 'Minority Owned Authorized Amount’) is not normally distributed </a:t>
            </a:r>
          </a:p>
        </p:txBody>
      </p:sp>
    </p:spTree>
    <p:extLst>
      <p:ext uri="{BB962C8B-B14F-4D97-AF65-F5344CB8AC3E}">
        <p14:creationId xmlns:p14="http://schemas.microsoft.com/office/powerpoint/2010/main" val="18340281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00D64-F294-AF8F-3C33-12A331486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2: Interactive Web App</a:t>
            </a:r>
          </a:p>
        </p:txBody>
      </p:sp>
    </p:spTree>
    <p:extLst>
      <p:ext uri="{BB962C8B-B14F-4D97-AF65-F5344CB8AC3E}">
        <p14:creationId xmlns:p14="http://schemas.microsoft.com/office/powerpoint/2010/main" val="12644895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BC806-2133-4178-8C41-93FDC6809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Interactive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0518B2-103E-03EE-0103-B2C824D21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Examples: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5F34D19-319B-D03E-CD8A-D3777A300F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2425" y="2054225"/>
            <a:ext cx="2330506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5752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C858A-7AD1-1749-7D9A-B818303A6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Interactive components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121BD-DE47-4EF1-C421-E996B03969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circle with a red yellow and blue circle&#10;&#10;AI-generated content may be incorrect.">
            <a:extLst>
              <a:ext uri="{FF2B5EF4-FFF2-40B4-BE49-F238E27FC236}">
                <a16:creationId xmlns:a16="http://schemas.microsoft.com/office/drawing/2014/main" id="{FB22D574-F6B7-15BA-4E1C-54594661B0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1099" y="2056607"/>
            <a:ext cx="2329069" cy="2515394"/>
          </a:xfrm>
          <a:prstGeom prst="rect">
            <a:avLst/>
          </a:prstGeom>
        </p:spPr>
      </p:pic>
      <p:pic>
        <p:nvPicPr>
          <p:cNvPr id="7" name="Picture 6" descr="A green line graph with a line going up&#10;&#10;AI-generated content may be incorrect.">
            <a:extLst>
              <a:ext uri="{FF2B5EF4-FFF2-40B4-BE49-F238E27FC236}">
                <a16:creationId xmlns:a16="http://schemas.microsoft.com/office/drawing/2014/main" id="{10C78507-BF2F-718F-946E-46CE22F87F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7325" y="2628900"/>
            <a:ext cx="2857500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9085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F5A42-8E8C-AC58-CE84-EB75CD374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96886-4DCA-5233-3914-1C840B8419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Difficult reproducing some graphs in </a:t>
            </a:r>
            <a:r>
              <a:rPr lang="en-US" dirty="0" err="1"/>
              <a:t>Plotly</a:t>
            </a:r>
            <a:r>
              <a:rPr lang="en-US" dirty="0"/>
              <a:t> due to deprecated packages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Difficult to run on my machine due to large dataset.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Difficulties running app on Google Cloud</a:t>
            </a:r>
          </a:p>
        </p:txBody>
      </p:sp>
    </p:spTree>
    <p:extLst>
      <p:ext uri="{BB962C8B-B14F-4D97-AF65-F5344CB8AC3E}">
        <p14:creationId xmlns:p14="http://schemas.microsoft.com/office/powerpoint/2010/main" val="34156092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2175</TotalTime>
  <Words>247</Words>
  <Application>Microsoft Office PowerPoint</Application>
  <PresentationFormat>Widescreen</PresentationFormat>
  <Paragraphs>71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Aptos</vt:lpstr>
      <vt:lpstr>Aptos Display</vt:lpstr>
      <vt:lpstr>Arial</vt:lpstr>
      <vt:lpstr>Office Theme</vt:lpstr>
      <vt:lpstr>Final Term Project Presentation</vt:lpstr>
      <vt:lpstr>Dataset Overview</vt:lpstr>
      <vt:lpstr>Data Cleaning</vt:lpstr>
      <vt:lpstr>Pie Plot</vt:lpstr>
      <vt:lpstr>Line Plot</vt:lpstr>
      <vt:lpstr>Scatter plot</vt:lpstr>
      <vt:lpstr>Bar plot</vt:lpstr>
      <vt:lpstr>Surface plot</vt:lpstr>
      <vt:lpstr>Dist plot</vt:lpstr>
      <vt:lpstr>Heatmap</vt:lpstr>
      <vt:lpstr>Multivariate Boxen plot</vt:lpstr>
      <vt:lpstr>Box Plot</vt:lpstr>
      <vt:lpstr>Violin</vt:lpstr>
      <vt:lpstr>Count plot</vt:lpstr>
      <vt:lpstr>Cluster Map</vt:lpstr>
      <vt:lpstr>Swarm Plot</vt:lpstr>
      <vt:lpstr>Area Plot</vt:lpstr>
      <vt:lpstr>Q-Q Plot</vt:lpstr>
      <vt:lpstr>Pair plot</vt:lpstr>
      <vt:lpstr>Joint Plot</vt:lpstr>
      <vt:lpstr>KDE and Rug Plots</vt:lpstr>
      <vt:lpstr>Hexbin</vt:lpstr>
      <vt:lpstr>Dist Plot</vt:lpstr>
      <vt:lpstr>Principal Component Analysis</vt:lpstr>
      <vt:lpstr>Normality test</vt:lpstr>
      <vt:lpstr>Part 2: Interactive Web App</vt:lpstr>
      <vt:lpstr>Interactive components</vt:lpstr>
      <vt:lpstr>Interactive components (cont.)</vt:lpstr>
      <vt:lpstr>Challenges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Omar Shah</dc:creator>
  <cp:lastModifiedBy>Omar Shah</cp:lastModifiedBy>
  <cp:revision>4</cp:revision>
  <dcterms:created xsi:type="dcterms:W3CDTF">2025-06-23T13:57:12Z</dcterms:created>
  <dcterms:modified xsi:type="dcterms:W3CDTF">2025-07-08T01:56:25Z</dcterms:modified>
</cp:coreProperties>
</file>